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DİJİTAL YENİLEME YOL HARİTASI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Durak Makine
Otomasyon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3931920"/>
            <a:ext cx="822960" cy="0"/>
          </a:xfrm>
          <a:prstGeom prst="line">
            <a:avLst/>
          </a:prstGeom>
          <a:ln w="508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4114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Web sitesi · Sosyal medya · Google Business · Reklam stratejisi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DE7D0"/>
                </a:solidFill>
                <a:latin typeface="Calibri"/>
              </a:rPr>
              <a:t>ESMARK Digital Marketing  ·  28 Nisan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842B"/>
                </a:solidFill>
                <a:latin typeface="Calibri"/>
              </a:rPr>
              <a:t>GÜNDEM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E4F"/>
                </a:solidFill>
                <a:latin typeface="Calibri"/>
              </a:rPr>
              <a:t>Bugün ne konuşacağız?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554480"/>
            <a:ext cx="640080" cy="0"/>
          </a:xfrm>
          <a:prstGeom prst="line">
            <a:avLst/>
          </a:prstGeom>
          <a:ln w="381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187451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8842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023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2E4F"/>
                </a:solidFill>
                <a:latin typeface="Calibri"/>
              </a:rPr>
              <a:t>Mevcut durum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7743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C757D"/>
                </a:solidFill>
                <a:latin typeface="Calibri"/>
              </a:rPr>
              <a:t>Web siteniz, Instagram'ınız ve Google Business'taki tablo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19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8842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8891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2E4F"/>
                </a:solidFill>
                <a:latin typeface="Calibri"/>
              </a:rPr>
              <a:t>Pazar ve rakipler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4611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C757D"/>
                </a:solidFill>
                <a:latin typeface="Calibri"/>
              </a:rPr>
              <a:t>Bursa pazarındaki yeriniz, kim önde, kim niş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7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8842B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65759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2E4F"/>
                </a:solidFill>
                <a:latin typeface="Calibri"/>
              </a:rPr>
              <a:t>Sizi rakipten ayıran fark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1479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C757D"/>
                </a:solidFill>
                <a:latin typeface="Calibri"/>
              </a:rPr>
              <a:t>Söze değil, kanıta dayalı pozisyon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5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8842B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2627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2E4F"/>
                </a:solidFill>
                <a:latin typeface="Calibri"/>
              </a:rPr>
              <a:t>Yeni web sitesi planı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8347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C757D"/>
                </a:solidFill>
                <a:latin typeface="Calibri"/>
              </a:rPr>
              <a:t>Sayfa yapısı ve içerik öncelikleri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8842B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39495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2E4F"/>
                </a:solidFill>
                <a:latin typeface="Calibri"/>
              </a:rPr>
              <a:t>Sosyal medya ve reklam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85215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C757D"/>
                </a:solidFill>
                <a:latin typeface="Calibri"/>
              </a:rPr>
              <a:t>İçerik takvimi, hedef kitle, kampanya çerçevesi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842B"/>
                </a:solidFill>
                <a:latin typeface="Calibri"/>
              </a:rPr>
              <a:t>MEVCUT DURUM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E4F"/>
                </a:solidFill>
                <a:latin typeface="Calibri"/>
              </a:rPr>
              <a:t>Üç kanalda da iş var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554480"/>
            <a:ext cx="640080" cy="0"/>
          </a:xfrm>
          <a:prstGeom prst="line">
            <a:avLst/>
          </a:prstGeom>
          <a:ln w="381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86587" y="1920240"/>
            <a:ext cx="352044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6587" y="2377440"/>
            <a:ext cx="3520440" cy="35661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627" y="260604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2E4F"/>
                </a:solidFill>
                <a:latin typeface="Calibri"/>
              </a:rPr>
              <a:t>Web Sitesi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627" y="310896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durakmakineotomasyon.com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627" y="36118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•  Blog 2020'de durmuş.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627" y="425196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•  Talaşlı imalat ve büyük makine parkı sayfada hiç yok.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627" y="48920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•  Alt sayfaların bir kısmı açılmıyor.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5627" y="1920240"/>
            <a:ext cx="3520440" cy="4572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5627" y="2377440"/>
            <a:ext cx="3520440" cy="35661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5667" y="260604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2E4F"/>
                </a:solidFill>
                <a:latin typeface="Calibri"/>
              </a:rPr>
              <a:t>Instagram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5667" y="310896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@durakmakineotomasyon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5667" y="36118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•  Hesap var ama düzenli yönetilmiyor.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5667" y="425196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•  Web sitesinde linki bile yok.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5667" y="48920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•  İçerik takvimi ve görsel arşiv eksik.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4667" y="1920240"/>
            <a:ext cx="3520440" cy="45720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4667" y="2377440"/>
            <a:ext cx="3520440" cy="35661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4707" y="260604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2E4F"/>
                </a:solidFill>
                <a:latin typeface="Calibri"/>
              </a:rPr>
              <a:t>Google Business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707" y="310896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C757D"/>
                </a:solidFill>
                <a:latin typeface="Calibri"/>
              </a:rPr>
              <a:t>Yeni adres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4707" y="36118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•  Eski adres haritada görünüyor.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707" y="425196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•  Taşınma sonrası güncelleme yapılmamış.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4707" y="48920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•  Müşteri firmayı haritada bulamıyor.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842B"/>
                </a:solidFill>
                <a:latin typeface="Calibri"/>
              </a:rPr>
              <a:t>WEB SİTESİ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E4F"/>
                </a:solidFill>
                <a:latin typeface="Calibri"/>
              </a:rPr>
              <a:t>Tespit edilen 7 kritik eksik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554480"/>
            <a:ext cx="640080" cy="0"/>
          </a:xfrm>
          <a:prstGeom prst="line">
            <a:avLst/>
          </a:prstGeom>
          <a:ln w="381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7451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4708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E4F"/>
                </a:solidFill>
                <a:latin typeface="Calibri"/>
              </a:rPr>
              <a:t>Talaşlı imalat ve büyük makine parkı sitede hiç yok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6712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Sizin en güçlü kartınız — tamamen görünmez durumda.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6887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6887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E4F"/>
                </a:solidFill>
                <a:latin typeface="Calibri"/>
              </a:rPr>
              <a:t>Blog 2020'den beri sessiz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6148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6 yıldır içerik yok. Arama motorları ve müşteriye 'durmuş firma' sinyali.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632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3580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E4F"/>
                </a:solidFill>
                <a:latin typeface="Calibri"/>
              </a:rPr>
              <a:t>E-posta adresi yok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35584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Müşteri size sadece telefonla ulaşabiliyor. Resmi iletişim kanalı eksik.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5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5759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63016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E4F"/>
                </a:solidFill>
                <a:latin typeface="Calibri"/>
              </a:rPr>
              <a:t>Sosyal medya entegrasyonu yok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5020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Instagram'ınıza sitede link bile verilmemiş.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5195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519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2452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E4F"/>
                </a:solidFill>
                <a:latin typeface="Calibri"/>
              </a:rPr>
              <a:t>Alt sayfalar açılmıyor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54456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Bakım, revizyon, hat taşıma sayfaları ya boş ya kırık.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4631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81888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E4F"/>
                </a:solidFill>
                <a:latin typeface="Calibri"/>
              </a:rPr>
              <a:t>Foto ve video kanıt yok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13892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İşi yaptığınızı söylüyor, gösteremiyor. Rakipler bunu fark ediyor.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44067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7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41324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E4F"/>
                </a:solidFill>
                <a:latin typeface="Calibri"/>
              </a:rPr>
              <a:t>Yeni adresiniz hiçbir yerde yok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73328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Site, Google Business ve sosyal medya hâlâ eski lokasyonu gösteriyor.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842B"/>
                </a:solidFill>
                <a:latin typeface="Calibri"/>
              </a:rPr>
              <a:t>PAZAR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E4F"/>
                </a:solidFill>
                <a:latin typeface="Calibri"/>
              </a:rPr>
              <a:t>Bursa otomotivin başkenti — talep zaten var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554480"/>
            <a:ext cx="640080" cy="0"/>
          </a:xfrm>
          <a:prstGeom prst="line">
            <a:avLst/>
          </a:prstGeom>
          <a:ln w="381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74519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Bursa, Türkiye'nin otomotiv ve yan sanayi merkezi.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DE7D0"/>
                </a:solidFill>
                <a:latin typeface="Calibri"/>
              </a:rPr>
              <a:t>Pres bakım, revizyon ve hat taşıma talebi sürekli — sizin işiniz organik olarak aranıyor.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5349240" cy="41148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DOĞRUDAN RAKİPLER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5349240" cy="23317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E4F"/>
                </a:solidFill>
                <a:latin typeface="Calibri"/>
              </a:rPr>
              <a:t>Mekasis Otomasyon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Bursa Nilüfer · ana rakip · temsilcilikler ile güçlü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E4F"/>
                </a:solidFill>
                <a:latin typeface="Calibri"/>
              </a:rPr>
              <a:t>Uysal Otomasyon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103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Eksantrik pres bakım, periyodik bakım odaklı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E4F"/>
                </a:solidFill>
                <a:latin typeface="Calibri"/>
              </a:rPr>
              <a:t>NYT Elektronik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961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Pano revizyonu, robotik pres senkronizasyonu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291840"/>
            <a:ext cx="5349240" cy="4114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İŞ ORTAĞI POTANSİYELİ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5349240" cy="23317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93192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Pres üreticileri (rakip değil, müşteri kaynağı)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43400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Hürsan Pres  ·  Koçlu Pres  ·  Preston  ·  PRES-SAN  ·  Meşe Makine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074920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6C757D"/>
                </a:solidFill>
                <a:latin typeface="Calibri"/>
              </a:rPr>
              <a:t>Bu firmalarla yetkili servis veya bakım iş ortağı ilişkisi → Mekasis'in temsilcilik avantajını dengeler.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842B"/>
                </a:solidFill>
                <a:latin typeface="Calibri"/>
              </a:rPr>
              <a:t>RAKİP KARŞILAŞTIRMA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E4F"/>
                </a:solidFill>
                <a:latin typeface="Calibri"/>
              </a:rPr>
              <a:t>Mekasis vs Durak Makine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554480"/>
            <a:ext cx="640080" cy="0"/>
          </a:xfrm>
          <a:prstGeom prst="line">
            <a:avLst/>
          </a:prstGeom>
          <a:ln w="381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1874519"/>
            <a:ext cx="5440680" cy="5943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93391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DE7D0"/>
                </a:solidFill>
                <a:latin typeface="Calibri"/>
              </a:rPr>
              <a:t>MEKASİS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67127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Söylemde önde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68879"/>
            <a:ext cx="5440680" cy="33375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5175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8E3E"/>
                </a:solidFill>
                <a:latin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8833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6 temsilcilik (Dirinler, Showa Seiki, Tecnofluid, HELM, OMPI, Vaptsarov)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6323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8E3E"/>
                </a:solidFill>
                <a:latin typeface="Calibri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9981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'Pazar lideri' söylemi, aktif blog ve teknik içerik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7471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8E3E"/>
                </a:solidFill>
                <a:latin typeface="Calibri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1129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Foto galeri ve sosyal medya entegrasyonu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8619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0392B"/>
                </a:solidFill>
                <a:latin typeface="Calibri"/>
              </a:rPr>
              <a:t>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2277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Galeri görselleri büyük ölçüde placeholder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0392B"/>
                </a:solidFill>
                <a:latin typeface="Calibri"/>
              </a:rPr>
              <a:t>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3425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'5 eksen işleme' iddiası kanıtsız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0915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0392B"/>
                </a:solidFill>
                <a:latin typeface="Calibri"/>
              </a:rPr>
              <a:t>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4573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Kendi makine parkı / talaşlı imalat öne çıkmıyor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2063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0392B"/>
                </a:solidFill>
                <a:latin typeface="Calibri"/>
              </a:rPr>
              <a:t>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15721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Müşteri logosu ve vaka çalışması yok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874519"/>
            <a:ext cx="5440680" cy="59436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993391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842B"/>
                </a:solidFill>
                <a:latin typeface="Calibri"/>
              </a:rPr>
              <a:t>DURAK MAKİNE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167127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Gerçeklikte önde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468879"/>
            <a:ext cx="5440680" cy="3337560"/>
          </a:xfrm>
          <a:prstGeom prst="rect">
            <a:avLst/>
          </a:prstGeom>
          <a:solidFill>
            <a:srgbClr val="FDE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65175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8E3E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68833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Tüm işler kendi tesisinizde — taşeronsuz üretim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06323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8E3E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09981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Talaşlı imalat parkı: tornalar, frezeler, işleme merkezi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47471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8E3E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51129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Çap 780 × boy 5000 mm torna — Türkiye'de 4-5 adet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88619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8E3E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92277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Volan, krank mili gibi büyük parça işleme içeride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2976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8E3E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33425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Atölye, video ve fotoğraflarla görsel kanıt mümkün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70915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8842B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74573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Site bunların hiçbirini bugün gösteremiyor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12063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8842B"/>
                </a:solidFill>
                <a:latin typeface="Calibr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157215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Yeni site bu farkı her sayfada öne çıkaracak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842B"/>
                </a:solidFill>
                <a:latin typeface="Calibri"/>
              </a:rPr>
              <a:t>FARK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E4F"/>
                </a:solidFill>
                <a:latin typeface="Calibri"/>
              </a:rPr>
              <a:t>Söz değil — kanıt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554480"/>
            <a:ext cx="640080" cy="0"/>
          </a:xfrm>
          <a:prstGeom prst="line">
            <a:avLst/>
          </a:prstGeom>
          <a:ln w="381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6587" y="201168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6587" y="2011680"/>
            <a:ext cx="548640" cy="2377440"/>
          </a:xfrm>
          <a:prstGeom prst="roundRect">
            <a:avLst>
              <a:gd name="adj" fmla="val 8000"/>
            </a:avLst>
          </a:prstGeom>
          <a:solidFill>
            <a:srgbClr val="E8842B"/>
          </a:solidFill>
          <a:ln w="15875">
            <a:solidFill>
              <a:srgbClr val="E8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0987" y="24231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2E4F"/>
                </a:solidFill>
                <a:latin typeface="Calibri"/>
              </a:rPr>
              <a:t>Tüm işler içeride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0987" y="310896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Pres revizyonundan talaşlı imalata kadar her aşama kendi atölyenizde.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5627" y="201168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5627" y="2011680"/>
            <a:ext cx="548640" cy="2377440"/>
          </a:xfrm>
          <a:prstGeom prst="roundRect">
            <a:avLst>
              <a:gd name="adj" fmla="val 8000"/>
            </a:avLst>
          </a:prstGeom>
          <a:solidFill>
            <a:srgbClr val="E8842B"/>
          </a:solidFill>
          <a:ln w="15875">
            <a:solidFill>
              <a:srgbClr val="E8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0027" y="24231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2E4F"/>
                </a:solidFill>
                <a:latin typeface="Calibri"/>
              </a:rPr>
              <a:t>Büyük parça kapasitesi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0027" y="310896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Volan, krank mili dahil ana işlemler dışarı gitmiyor — rakipler bu kapasiteyi kiralıyor.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4667" y="201168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4667" y="2011680"/>
            <a:ext cx="548640" cy="2377440"/>
          </a:xfrm>
          <a:prstGeom prst="roundRect">
            <a:avLst>
              <a:gd name="adj" fmla="val 8000"/>
            </a:avLst>
          </a:prstGeom>
          <a:solidFill>
            <a:srgbClr val="E8842B"/>
          </a:solidFill>
          <a:ln w="15875">
            <a:solidFill>
              <a:srgbClr val="E8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9067" y="24231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2E4F"/>
                </a:solidFill>
                <a:latin typeface="Calibri"/>
              </a:rPr>
              <a:t>Türkiye'de 4-5 adet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9067" y="310896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52E"/>
                </a:solidFill>
                <a:latin typeface="Calibri"/>
              </a:rPr>
              <a:t>Çap 780 mm × boy 5000 mm torna — bu boyut sadece sizde dahil çok az tesiste var.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754880"/>
            <a:ext cx="9418320" cy="137160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98348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FFFFFF"/>
                </a:solidFill>
                <a:latin typeface="Calibri"/>
              </a:rPr>
              <a:t>“ Biz burada yaptığımız her şeyi kendi tarafımızda yapıyoruz, gösterebiliriz. 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6928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842B"/>
                </a:solidFill>
                <a:latin typeface="Calibri"/>
              </a:rPr>
              <a:t>— Fahrettin Durak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PAZARLAMA MESAJI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Sözünü kanıtlayan üretici.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32704" y="4526280"/>
            <a:ext cx="914400" cy="0"/>
          </a:xfrm>
          <a:prstGeom prst="line">
            <a:avLst/>
          </a:prstGeom>
          <a:ln w="508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FDE7D0"/>
                </a:solidFill>
                <a:latin typeface="Calibri"/>
              </a:rPr>
              <a:t>Dışarı iş veren değil; başkalarının yapamadığı işleri içeride yapan tesis.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842B"/>
                </a:solidFill>
                <a:latin typeface="Calibri"/>
              </a:rPr>
              <a:t>YENİ WEB SİTESİ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E4F"/>
                </a:solidFill>
                <a:latin typeface="Calibri"/>
              </a:rPr>
              <a:t>Sayfa yapısı ve öncelikler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554480"/>
            <a:ext cx="640080" cy="0"/>
          </a:xfrm>
          <a:prstGeom prst="line">
            <a:avLst/>
          </a:prstGeom>
          <a:ln w="381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2880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Yeni eklenen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82880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Yenilenen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94560"/>
            <a:ext cx="20756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194560"/>
            <a:ext cx="2075688" cy="164592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14600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Anasayfa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Atölye videosu + güçlü değer önerisi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41498" y="2194560"/>
            <a:ext cx="20756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1498" y="2194560"/>
            <a:ext cx="2075688" cy="164592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4378" y="2514600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Eksantrik Pres Revizyonu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4378" y="3154680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Vaka çalışmaları + before/after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2916" y="2194560"/>
            <a:ext cx="20756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2916" y="2194560"/>
            <a:ext cx="2075688" cy="164592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5796" y="2514600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Hidrolik Pres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5796" y="3154680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Hizmet kapsamı + süreç adımları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44334" y="2194560"/>
            <a:ext cx="20756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44334" y="2194560"/>
            <a:ext cx="2075688" cy="164592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7214" y="2514600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Pres Hat Taşıma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7214" y="3154680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Lojistik + montaj örnekleri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45752" y="2194560"/>
            <a:ext cx="20756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45752" y="2194560"/>
            <a:ext cx="2075688" cy="164592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28632" y="2514600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Talaşlı İmalat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3154680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Yeni — ana hizmet sayfası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526280"/>
            <a:ext cx="20756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526280"/>
            <a:ext cx="2075688" cy="164592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Makine Parkı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486400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Yeni — büyük torna ön plan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41498" y="4526280"/>
            <a:ext cx="20756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41498" y="4526280"/>
            <a:ext cx="2075688" cy="164592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24378" y="4846320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Vakalar / Referanslar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24378" y="5486400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Yeni — müşteri logoları, projeler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42916" y="4526280"/>
            <a:ext cx="20756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42916" y="4526280"/>
            <a:ext cx="2075688" cy="164592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25796" y="4846320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Blog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25796" y="5486400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Teknik içerik + SEO için yeniden açılışı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44334" y="4526280"/>
            <a:ext cx="20756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44334" y="4526280"/>
            <a:ext cx="2075688" cy="164592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27214" y="4846320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Hakkımızda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7214" y="5486400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Kuruluş, ekip, sertifikalar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45752" y="4526280"/>
            <a:ext cx="207568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45752" y="4526280"/>
            <a:ext cx="2075688" cy="164592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28632" y="4846320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F"/>
                </a:solidFill>
                <a:latin typeface="Calibri"/>
              </a:rPr>
              <a:t>İletişim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28632" y="5486400"/>
            <a:ext cx="170992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Yeni adres, harita, WhatsApp CTA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842B"/>
                </a:solidFill>
                <a:latin typeface="Calibri"/>
              </a:rPr>
              <a:t>SOSYAL MEDYA &amp; REKLAM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E4F"/>
                </a:solidFill>
                <a:latin typeface="Calibri"/>
              </a:rPr>
              <a:t>Dört kanal, tek mesaj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554480"/>
            <a:ext cx="640080" cy="0"/>
          </a:xfrm>
          <a:prstGeom prst="line">
            <a:avLst/>
          </a:prstGeom>
          <a:ln w="381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2579" y="192024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2579" y="1920240"/>
            <a:ext cx="2697480" cy="50292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459" y="20391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Instagram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459" y="25603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E8842B"/>
                </a:solidFill>
                <a:latin typeface="Calibri"/>
              </a:rPr>
              <a:t>Atölye, makine ve revizyon süreci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459" y="320040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059" y="321868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Reels: makine zoom, before/after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459" y="397764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059" y="399592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Story: günlük atölye anları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" y="475488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059" y="477316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Post: tamamlanmış işler, ekip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8931" y="192024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8931" y="1920240"/>
            <a:ext cx="2697480" cy="50292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1811" y="20391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LinkedIn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811" y="25603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E8842B"/>
                </a:solidFill>
                <a:latin typeface="Calibri"/>
              </a:rPr>
              <a:t>B2B karar vericilerine ulaşım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1811" y="320040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0411" y="321868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Hedef: satın alma + bakım müdürü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1811" y="397764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0411" y="399592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Vaka çalışması paylaşımları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1811" y="475488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0411" y="477316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Sektör içgörüleri ve teknik yazı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5283" y="192024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5283" y="1920240"/>
            <a:ext cx="2697480" cy="50292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8163" y="20391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Google Ads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8163" y="25603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E8842B"/>
                </a:solidFill>
                <a:latin typeface="Calibri"/>
              </a:rPr>
              <a:t>Aktif aramada zirve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8163" y="320040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6763" y="321868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'eksantrik pres revizyonu Bursa'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8163" y="397764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6763" y="399592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'hidrolik pres tamiri'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8163" y="475488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6763" y="477316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Şehir + hizmet long-tail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1635" y="192024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71635" y="1920240"/>
            <a:ext cx="2697480" cy="502920"/>
          </a:xfrm>
          <a:prstGeom prst="rect">
            <a:avLst/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54515" y="20391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Meta Ads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4515" y="25603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E8842B"/>
                </a:solidFill>
                <a:latin typeface="Calibri"/>
              </a:rPr>
              <a:t>Coğrafi ve sektörel hedefleme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4515" y="320040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3115" y="321868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Bursa, Kocaeli, İstanbul sanayi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4515" y="397764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83115" y="399592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Otomotiv yan sanayi pozisyonları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54515" y="4754880"/>
            <a:ext cx="164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83115" y="477316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52E"/>
                </a:solidFill>
                <a:latin typeface="Calibri"/>
              </a:rPr>
              <a:t>Atölye videosu ile retargeting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C757D"/>
                </a:solidFill>
                <a:latin typeface="Calibr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842B"/>
                </a:solidFill>
                <a:latin typeface="Calibri"/>
              </a:rPr>
              <a:t>SÜREÇ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E4F"/>
                </a:solidFill>
                <a:latin typeface="Calibri"/>
              </a:rPr>
              <a:t>Dört aşamada yenileme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554480"/>
            <a:ext cx="640080" cy="0"/>
          </a:xfrm>
          <a:prstGeom prst="line">
            <a:avLst/>
          </a:prstGeom>
          <a:ln w="381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2579" y="201168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2579" y="2011680"/>
            <a:ext cx="2697480" cy="164592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6899" y="2377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E8842B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899" y="33832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E4F"/>
                </a:solidFill>
                <a:latin typeface="Calibri"/>
              </a:rPr>
              <a:t>Keşif &amp; İçerik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899" y="397764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Makine envanteri, atölye foto/video çekimi, mevcut müşteri ve referans listesi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4631" y="356616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E8842B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8931" y="201168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8931" y="2011680"/>
            <a:ext cx="2697480" cy="164592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3251" y="2377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E8842B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3251" y="33832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E4F"/>
                </a:solidFill>
                <a:latin typeface="Calibri"/>
              </a:rPr>
              <a:t>Tasarım &amp; Üretim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3251" y="397764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Yeni site tasarımı, içerik yazımı, SEO yapısı, Google Business güncellemesi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0983" y="356616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E8842B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5283" y="201168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5283" y="2011680"/>
            <a:ext cx="2697480" cy="164592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9603" y="2377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E8842B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603" y="33832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E4F"/>
                </a:solidFill>
                <a:latin typeface="Calibri"/>
              </a:rPr>
              <a:t>Yayın &amp; Devir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603" y="397764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Site canlıya alınır, Instagram yönetimi devralınır, ölçüm araçları kurulur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7335" y="356616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E8842B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1635" y="201168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1635" y="2011680"/>
            <a:ext cx="2697480" cy="164592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5955" y="2377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E8842B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5955" y="33832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E4F"/>
                </a:solidFill>
                <a:latin typeface="Calibri"/>
              </a:rPr>
              <a:t>Reklam &amp; Büyüme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5955" y="397764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52E"/>
                </a:solidFill>
                <a:latin typeface="Calibri"/>
              </a:rPr>
              <a:t>Meta + Google Ads kampanyaları, içerik takvimi, aylık raporlama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C757D"/>
                </a:solidFill>
                <a:latin typeface="Calibri"/>
              </a:rPr>
              <a:t>Toplam süre: kapsam ve içerik hazırlığına bağlı — toplantıda netleşecek.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ESMARK Digital Marketing  ·  Durak Makine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842B"/>
                </a:solidFill>
                <a:latin typeface="Calibri"/>
              </a:rPr>
              <a:t>SONRAKİ ADIMLAR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Birlikte karar vereceklerimiz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1554480"/>
            <a:ext cx="640080" cy="0"/>
          </a:xfrm>
          <a:prstGeom prst="line">
            <a:avLst/>
          </a:prstGeom>
          <a:ln w="38100">
            <a:solidFill>
              <a:srgbClr val="E88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19202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842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8424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Yeni adres ve makine envanterinin netleştirilmesi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842B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2432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Foto / video çekim planı (atölye + makineler)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842B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6440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Web alan adı ve Instagram erişim devri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842B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90448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Hedef coğrafya ve müşteri profilinin onaylanması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842B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5445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Bütçe ve canlıya alınma tarihinin belirlenmesi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0F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842B"/>
                </a:solidFill>
                <a:latin typeface="Calibri"/>
              </a:rPr>
              <a:t>ESMARK Digital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DE7D0"/>
                </a:solidFill>
                <a:latin typeface="Calibri"/>
              </a:rPr>
              <a:t>Web · Sosyal medya · Google Business · Reklam yönetimi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